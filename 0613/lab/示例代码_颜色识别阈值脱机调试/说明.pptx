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89" r:id="rId4"/>
    <p:sldId id="290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9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NULL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NULL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3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NULL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xxq20/AppData/Local/Temp/figmazip/slide_45cd150778d0cd30\datas\装饰-12001&amp;62987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8432165" cy="685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>
            <p:custDataLst>
              <p:tags r:id="rId6"/>
            </p:custDataLst>
          </p:nvPr>
        </p:nvSpPr>
        <p:spPr>
          <a:xfrm>
            <a:off x="914400" y="4622804"/>
            <a:ext cx="7517765" cy="7620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7"/>
            </p:custDataLst>
          </p:nvPr>
        </p:nvSpPr>
        <p:spPr>
          <a:xfrm>
            <a:off x="508004" y="5384801"/>
            <a:ext cx="406400" cy="405765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330199" y="330199"/>
            <a:ext cx="406400" cy="406400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9"/>
            </p:custDataLst>
          </p:nvPr>
        </p:nvSpPr>
        <p:spPr>
          <a:xfrm>
            <a:off x="6807196" y="5638803"/>
            <a:ext cx="1117600" cy="62865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  <p:custDataLst>
              <p:tags r:id="rId13"/>
            </p:custDataLst>
          </p:nvPr>
        </p:nvSpPr>
        <p:spPr>
          <a:xfrm>
            <a:off x="914400" y="1587499"/>
            <a:ext cx="6807196" cy="2235196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5000"/>
              </a:lnSpc>
              <a:buNone/>
              <a:defRPr sz="6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职场通用模板
年终工作述职报告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4" hasCustomPrompt="1"/>
            <p:custDataLst>
              <p:tags r:id="rId14"/>
            </p:custDataLst>
          </p:nvPr>
        </p:nvSpPr>
        <p:spPr>
          <a:xfrm>
            <a:off x="914400" y="1054102"/>
            <a:ext cx="8369302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219197" y="4775198"/>
            <a:ext cx="525780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/Users/xxq20/AppData/Local/Temp/figmazip/slide_bd6dadc365ccbb1b\datas\氛围图-12001&amp;63006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58801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880104" y="0"/>
            <a:ext cx="6311900" cy="68580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8"/>
            </p:custDataLst>
          </p:nvPr>
        </p:nvSpPr>
        <p:spPr>
          <a:xfrm>
            <a:off x="330199" y="330199"/>
            <a:ext cx="406400" cy="4064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9"/>
            </p:custDataLst>
          </p:nvPr>
        </p:nvSpPr>
        <p:spPr>
          <a:xfrm>
            <a:off x="736604" y="736604"/>
            <a:ext cx="406400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3" hasCustomPrompt="1"/>
            <p:custDataLst>
              <p:tags r:id="rId11"/>
            </p:custDataLst>
          </p:nvPr>
        </p:nvSpPr>
        <p:spPr>
          <a:xfrm>
            <a:off x="7023104" y="4292596"/>
            <a:ext cx="4165604" cy="1219197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4" hasCustomPrompt="1"/>
            <p:custDataLst>
              <p:tags r:id="rId12"/>
            </p:custDataLst>
          </p:nvPr>
        </p:nvSpPr>
        <p:spPr>
          <a:xfrm>
            <a:off x="7023104" y="490941"/>
            <a:ext cx="3308354" cy="2868116"/>
          </a:xfrm>
          <a:noFill/>
        </p:spPr>
        <p:txBody>
          <a:bodyPr lIns="0" tIns="0" rIns="0" bIns="0" anchor="ctr">
            <a:noAutofit/>
          </a:bodyPr>
          <a:lstStyle>
            <a:lvl1pPr algn="l">
              <a:lnSpc>
                <a:spcPct val="109000"/>
              </a:lnSpc>
              <a:buNone/>
              <a:defRPr sz="130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xxq20/AppData/Local/Temp/figmazip/slide_2356a4041b96e297\datas\装饰-12001&amp;63009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>
            <a:off x="0" y="2692396"/>
            <a:ext cx="12191365" cy="4165600"/>
          </a:xfrm>
          <a:custGeom>
            <a:avLst/>
            <a:gdLst>
              <a:gd name="connisteX0" fmla="*/ 0 w 12191996"/>
              <a:gd name="connsiteY0" fmla="*/ 0 h 4165604"/>
              <a:gd name="connisteX1" fmla="*/ 0 w 12191996"/>
              <a:gd name="connsiteY1" fmla="*/ 4165604 h 4165604"/>
              <a:gd name="connisteX2" fmla="*/ 12191996 w 12191996"/>
              <a:gd name="connsiteY2" fmla="*/ 4165604 h 4165604"/>
              <a:gd name="connisteX3" fmla="*/ 12191996 w 12191996"/>
              <a:gd name="connsiteY3" fmla="*/ 0 h 4165604"/>
              <a:gd name="connisteX4" fmla="*/ 0 w 12191996"/>
              <a:gd name="connsiteY4" fmla="*/ 0 h 41656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4165604">
                <a:moveTo>
                  <a:pt x="0" y="0"/>
                </a:moveTo>
                <a:lnTo>
                  <a:pt x="0" y="4165604"/>
                </a:lnTo>
                <a:lnTo>
                  <a:pt x="12191997" y="4165604"/>
                </a:lnTo>
                <a:lnTo>
                  <a:pt x="1219199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6"/>
            </p:custDataLst>
          </p:nvPr>
        </p:nvSpPr>
        <p:spPr>
          <a:xfrm>
            <a:off x="888998" y="5295903"/>
            <a:ext cx="5791200" cy="50800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7"/>
            </p:custDataLst>
          </p:nvPr>
        </p:nvSpPr>
        <p:spPr>
          <a:xfrm>
            <a:off x="888998" y="3556001"/>
            <a:ext cx="406400" cy="405765"/>
          </a:xfrm>
          <a:prstGeom prst="rect">
            <a:avLst/>
          </a:pr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3" hasCustomPrompt="1"/>
            <p:custDataLst>
              <p:tags r:id="rId11"/>
            </p:custDataLst>
          </p:nvPr>
        </p:nvSpPr>
        <p:spPr>
          <a:xfrm>
            <a:off x="7061198" y="4356101"/>
            <a:ext cx="41402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2" name="标题 11"/>
          <p:cNvSpPr>
            <a:spLocks noGrp="1"/>
          </p:cNvSpPr>
          <p:nvPr>
            <p:ph type="ctrTitle" idx="14" hasCustomPrompt="1"/>
            <p:custDataLst>
              <p:tags r:id="rId12"/>
            </p:custDataLst>
          </p:nvPr>
        </p:nvSpPr>
        <p:spPr>
          <a:xfrm>
            <a:off x="6934197" y="4813301"/>
            <a:ext cx="4267203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xxq20/AppData/Local/Temp/figmazip/slide_605538ea2e373597\datas\装饰图-12001&amp;62751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303466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609603" y="3276597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6"/>
            </p:custDataLst>
          </p:nvPr>
        </p:nvSpPr>
        <p:spPr>
          <a:xfrm>
            <a:off x="609603" y="28066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5.xml"/><Relationship Id="rId7" Type="http://schemas.openxmlformats.org/officeDocument/2006/relationships/image" Target="../media/image6.png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90.xml"/><Relationship Id="rId7" Type="http://schemas.openxmlformats.org/officeDocument/2006/relationships/image" Target="../media/image7.png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8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95.xml"/><Relationship Id="rId7" Type="http://schemas.openxmlformats.org/officeDocument/2006/relationships/image" Target="../media/image8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NULL" TargetMode="External"/><Relationship Id="rId2" Type="http://schemas.openxmlformats.org/officeDocument/2006/relationships/image" Target="../media/image5.png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RGB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颜色空间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4805" y="1572260"/>
            <a:ext cx="2346960" cy="21336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438400" y="4129405"/>
            <a:ext cx="8317865" cy="228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1. </a:t>
            </a:r>
            <a:r>
              <a:rPr lang="zh-CN" altLang="en-US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三原色</a:t>
            </a:r>
            <a:r>
              <a:rPr lang="en-US" altLang="zh-CN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: </a:t>
            </a:r>
            <a:r>
              <a:rPr lang="zh-CN" altLang="en-US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红绿蓝，通过不同比例混合，可呈现任意一种颜色</a:t>
            </a:r>
            <a:r>
              <a:rPr lang="en-US" altLang="zh-CN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;</a:t>
            </a:r>
            <a:endParaRPr lang="en-US" altLang="zh-CN" sz="2000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2. </a:t>
            </a:r>
            <a:r>
              <a:rPr lang="zh-CN" altLang="en-US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更适用于计算机物理结构的一种表示方式；</a:t>
            </a:r>
            <a:endParaRPr lang="zh-CN" altLang="en-US" sz="2000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3. </a:t>
            </a:r>
            <a:r>
              <a:rPr lang="zh-CN" altLang="en-US" sz="2000">
                <a:solidFill>
                  <a:schemeClr val="tx1"/>
                </a:solidFill>
                <a:uFillTx/>
                <a:ea typeface="微软雅黑" panose="020B0503020204020204" charset="-122"/>
              </a:rPr>
              <a:t>并不适合颜色调整，所选颜色变化时，基本都需要三个分量同时调整；</a:t>
            </a:r>
            <a:endParaRPr lang="zh-CN" altLang="en-US" sz="2000">
              <a:solidFill>
                <a:schemeClr val="tx1"/>
              </a:solidFill>
              <a:uFillTx/>
              <a:ea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LAB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颜色空间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651760" y="3662680"/>
            <a:ext cx="8524240" cy="2746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1.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基于人类视觉感知的设备无关颜色空间，包含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L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（亮度）、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a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（红绿轴）、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b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（黄蓝轴）三个通道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；</a:t>
            </a:r>
            <a:endParaRPr lang="zh-CN" altLang="en-US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2. L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范围：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0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（黑）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~100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（白）；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a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范围：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-128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（绿）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~+127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（红）；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b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范围：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-128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（蓝）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~+127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（黄）；</a:t>
            </a:r>
            <a:endParaRPr lang="zh-CN" altLang="en-US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3.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色域广，颜色精度高，常用于印刷、医学图像处理等强调颜色表达能力的领域；</a:t>
            </a:r>
            <a:endParaRPr lang="zh-CN" altLang="en-US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4. L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通道仅含亮度信息，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a/b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通道仅含颜色信息，便于独立调整；</a:t>
            </a:r>
            <a:endParaRPr lang="zh-CN" altLang="en-US">
              <a:solidFill>
                <a:schemeClr val="tx1"/>
              </a:solidFill>
              <a:uFillTx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915" y="1371600"/>
            <a:ext cx="2537460" cy="222504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/Users/xxq20/AppData/Local/Temp/figmazip/slide_4b90be7cb1d1dcaa\datas\装饰-12001&amp;171259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r:link="rId3"/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38403" y="609603"/>
            <a:ext cx="8267703" cy="761997"/>
          </a:xfrm>
          <a:noFill/>
        </p:spPr>
        <p:txBody>
          <a:bodyPr lIns="0" tIns="0" rIns="0" bIns="0" anchor="t">
            <a:noAutofit/>
          </a:bodyPr>
          <a:p>
            <a:pPr algn="l">
              <a:lnSpc>
                <a:spcPct val="114000"/>
              </a:lnSpc>
            </a:pPr>
            <a:r>
              <a:rPr lang="en-US" altLang="zh-CN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HSV</a:t>
            </a:r>
            <a:r>
              <a:rPr lang="zh-CN" altLang="en-US" sz="440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</a:rPr>
              <a:t>颜色空间</a:t>
            </a:r>
            <a:endParaRPr lang="zh-CN" altLang="en-US" sz="4400">
              <a:solidFill>
                <a:schemeClr val="tx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1582403" y="203198"/>
            <a:ext cx="405765" cy="4064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1175998" y="609603"/>
            <a:ext cx="406400" cy="40576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439035" y="3906520"/>
            <a:ext cx="8317865" cy="228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1.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更符合人类视觉感知的一种颜色模型；</a:t>
            </a:r>
            <a:endParaRPr lang="en-US" altLang="zh-CN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2.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基于色调（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H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）、饱和度（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S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）、明度（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V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）的模型，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H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范围：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0~360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（红</a:t>
            </a:r>
            <a:r>
              <a:rPr lang="en-US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绿</a:t>
            </a:r>
            <a:r>
              <a:rPr lang="en-US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蓝</a:t>
            </a:r>
            <a:r>
              <a:rPr lang="en-US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→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红），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S/V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范围：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0~100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；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(opencv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中，</a:t>
            </a: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H:0-180, S/V:0-255)</a:t>
            </a:r>
            <a:endParaRPr lang="en-US" altLang="zh-CN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3.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亮度与颜色分离，可一定程度提升光照鲁棒性，适用于光照不均场景；</a:t>
            </a:r>
            <a:endParaRPr lang="zh-CN" altLang="en-US">
              <a:solidFill>
                <a:schemeClr val="tx1"/>
              </a:solidFill>
              <a:uFillTx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uFillTx/>
                <a:ea typeface="微软雅黑" panose="020B0503020204020204" charset="-122"/>
              </a:rPr>
              <a:t>4. </a:t>
            </a:r>
            <a:r>
              <a:rPr lang="zh-CN" altLang="en-US">
                <a:solidFill>
                  <a:schemeClr val="tx1"/>
                </a:solidFill>
                <a:uFillTx/>
                <a:ea typeface="微软雅黑" panose="020B0503020204020204" charset="-122"/>
              </a:rPr>
              <a:t>颜色通道单独分离，便于手动调整阈值；</a:t>
            </a:r>
            <a:endParaRPr lang="zh-CN" altLang="en-US">
              <a:solidFill>
                <a:schemeClr val="tx1"/>
              </a:solidFill>
              <a:uFillTx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1110" y="1576070"/>
            <a:ext cx="2352675" cy="212534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2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3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4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5.xml><?xml version="1.0" encoding="utf-8"?>
<p:tagLst xmlns:p="http://schemas.openxmlformats.org/presentationml/2006/main">
  <p:tag name="KSO_WM_BEAUTIFY_FLAG" val="#wm#"/>
  <p:tag name="KSO_WM_UNIT_INDEX" val="5"/>
  <p:tag name="KSO_WM_UNIT_TYPE" val="i"/>
</p:tagLst>
</file>

<file path=ppt/tags/tag6.xml><?xml version="1.0" encoding="utf-8"?>
<p:tagLst xmlns:p="http://schemas.openxmlformats.org/presentationml/2006/main">
  <p:tag name="KSO_WM_BEAUTIFY_FLAG" val="#wm#"/>
  <p:tag name="KSO_WM_UNIT_INDEX" val="6"/>
  <p:tag name="KSO_WM_UNIT_TYPE" val="i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</p:tagLst>
</file>

<file path=ppt/tags/tag12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9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23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26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64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65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66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71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72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73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74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e41c35d6f072c421"/>
</p:tagLst>
</file>

<file path=ppt/tags/tag8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83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84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86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8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88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89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9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9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</p:tagLst>
</file>

<file path=ppt/tags/tag93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94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FIGMA_LIMIT" val=""/>
  <p:tag name="KSO_WM_FIGMA_SLIDE_GROUP" val="39"/>
  <p:tag name="KSO_WM_SLIDE_TYPE" val="text"/>
  <p:tag name="KSO_WM_TEMPLATE_SUBCATEGORY" val="29"/>
  <p:tag name="KSO_WM_SLIDE_SOURCE" val="WPPAIGenerateSlide"/>
</p:tagLst>
</file>

<file path=ppt/tags/tag96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蓝色工作汇报商务风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2E4A"/>
      </a:accent1>
      <a:accent2>
        <a:srgbClr val="B59158"/>
      </a:accent2>
      <a:accent3>
        <a:srgbClr val="D5BF93"/>
      </a:accent3>
      <a:accent4>
        <a:srgbClr val="8498AA"/>
      </a:accent4>
      <a:accent5>
        <a:srgbClr val="A0BBF0"/>
      </a:accent5>
      <a:accent6>
        <a:srgbClr val="E4420E"/>
      </a:accent6>
      <a:hlink>
        <a:srgbClr val="00B5EE"/>
      </a:hlink>
      <a:folHlink>
        <a:srgbClr val="0C327A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WPS 演示</Application>
  <PresentationFormat>宽屏</PresentationFormat>
  <Paragraphs>20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Microsoft YaHei UI</vt:lpstr>
      <vt:lpstr>Arial Unicode MS</vt:lpstr>
      <vt:lpstr>Calibri</vt:lpstr>
      <vt:lpstr>蓝色工作汇报商务风主题</vt:lpstr>
      <vt:lpstr>主要流程</vt:lpstr>
      <vt:lpstr>RGB颜色空间</vt:lpstr>
      <vt:lpstr>LAB颜色空间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xxq20</dc:creator>
  <cp:lastModifiedBy>Jarvis</cp:lastModifiedBy>
  <cp:revision>177</cp:revision>
  <dcterms:created xsi:type="dcterms:W3CDTF">2019-06-19T02:08:00Z</dcterms:created>
  <dcterms:modified xsi:type="dcterms:W3CDTF">2025-05-18T09:20:14Z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FCB0FF2742FE43F5A3BCC9FB03E9D249_11</vt:lpwstr>
  </property>
</Properties>
</file>