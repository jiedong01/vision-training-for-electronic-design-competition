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3" r:id="rId3"/>
    <p:sldId id="284" r:id="rId4"/>
    <p:sldId id="285" r:id="rId5"/>
    <p:sldId id="286" r:id="rId6"/>
    <p:sldId id="287" r:id="rId7"/>
    <p:sldId id="288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38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0"/>
        <p:guide pos="381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1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NULL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image" Target="NULL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18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image" Target="NULL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63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image" Target="NULL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xxq20/AppData/Local/Temp/figmazip/slide_45cd150778d0cd30\datas\装饰-12001&amp;62987.pn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8432165" cy="6858000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914400" y="4622804"/>
            <a:ext cx="7517765" cy="7620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>
            <p:custDataLst>
              <p:tags r:id="rId7"/>
            </p:custDataLst>
          </p:nvPr>
        </p:nvSpPr>
        <p:spPr>
          <a:xfrm>
            <a:off x="508004" y="5384801"/>
            <a:ext cx="406400" cy="405765"/>
          </a:xfrm>
          <a:prstGeom prst="rect">
            <a:avLst/>
          </a:pr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>
            <p:custDataLst>
              <p:tags r:id="rId8"/>
            </p:custDataLst>
          </p:nvPr>
        </p:nvSpPr>
        <p:spPr>
          <a:xfrm>
            <a:off x="330199" y="330199"/>
            <a:ext cx="406400" cy="406400"/>
          </a:xfrm>
          <a:prstGeom prst="rect">
            <a:avLst/>
          </a:pr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9"/>
            </p:custDataLst>
          </p:nvPr>
        </p:nvSpPr>
        <p:spPr>
          <a:xfrm>
            <a:off x="6807196" y="5638803"/>
            <a:ext cx="1117600" cy="62865"/>
          </a:xfrm>
          <a:prstGeom prst="rect">
            <a:avLst/>
          </a:pr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标题 9"/>
          <p:cNvSpPr>
            <a:spLocks noGrp="1"/>
          </p:cNvSpPr>
          <p:nvPr>
            <p:ph type="ctrTitle" idx="13" hasCustomPrompt="1"/>
            <p:custDataLst>
              <p:tags r:id="rId13"/>
            </p:custDataLst>
          </p:nvPr>
        </p:nvSpPr>
        <p:spPr>
          <a:xfrm>
            <a:off x="914400" y="1587499"/>
            <a:ext cx="6807196" cy="2235196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5000"/>
              </a:lnSpc>
              <a:buNone/>
              <a:defRPr sz="6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mtClean="0"/>
              <a:t>职场通用模板
年终工作述职报告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4" hasCustomPrompt="1"/>
            <p:custDataLst>
              <p:tags r:id="rId14"/>
            </p:custDataLst>
          </p:nvPr>
        </p:nvSpPr>
        <p:spPr>
          <a:xfrm>
            <a:off x="914400" y="1054102"/>
            <a:ext cx="8369302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5" hasCustomPrompt="1"/>
            <p:custDataLst>
              <p:tags r:id="rId15"/>
            </p:custDataLst>
          </p:nvPr>
        </p:nvSpPr>
        <p:spPr>
          <a:xfrm>
            <a:off x="1219197" y="4775198"/>
            <a:ext cx="5257800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BY WPS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:/Users/xxq20/AppData/Local/Temp/figmazip/slide_bd6dadc365ccbb1b\datas\氛围图-12001&amp;63006.pn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58801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5880104" y="0"/>
            <a:ext cx="6311900" cy="68580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/>
          <p:nvPr userDrawn="1">
            <p:custDataLst>
              <p:tags r:id="rId8"/>
            </p:custDataLst>
          </p:nvPr>
        </p:nvSpPr>
        <p:spPr>
          <a:xfrm>
            <a:off x="330199" y="330199"/>
            <a:ext cx="406400" cy="406400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>
            <p:custDataLst>
              <p:tags r:id="rId9"/>
            </p:custDataLst>
          </p:nvPr>
        </p:nvSpPr>
        <p:spPr>
          <a:xfrm>
            <a:off x="736604" y="736604"/>
            <a:ext cx="406400" cy="4064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3" hasCustomPrompt="1"/>
            <p:custDataLst>
              <p:tags r:id="rId11"/>
            </p:custDataLst>
          </p:nvPr>
        </p:nvSpPr>
        <p:spPr>
          <a:xfrm>
            <a:off x="7023104" y="4292596"/>
            <a:ext cx="4165604" cy="1219197"/>
          </a:xfrm>
          <a:noFill/>
        </p:spPr>
        <p:txBody>
          <a:bodyPr lIns="0" tIns="0" rIns="0" bIns="0" anchor="ctr">
            <a:noAutofit/>
          </a:bodyPr>
          <a:lstStyle>
            <a:lvl1pPr algn="l">
              <a:lnSpc>
                <a:spcPct val="104000"/>
              </a:lnSpc>
              <a:buNone/>
              <a:defRPr sz="4800" b="0">
                <a:solidFill>
                  <a:schemeClr val="bg1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</a:lstStyle>
          <a:p>
            <a:r>
              <a:rPr lang="zh-CN" altLang="en-US" smtClean="0"/>
              <a:t>章节页的标题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4" hasCustomPrompt="1"/>
            <p:custDataLst>
              <p:tags r:id="rId12"/>
            </p:custDataLst>
          </p:nvPr>
        </p:nvSpPr>
        <p:spPr>
          <a:xfrm>
            <a:off x="7023104" y="490941"/>
            <a:ext cx="3308354" cy="2868116"/>
          </a:xfrm>
          <a:noFill/>
        </p:spPr>
        <p:txBody>
          <a:bodyPr lIns="0" tIns="0" rIns="0" bIns="0" anchor="ctr">
            <a:noAutofit/>
          </a:bodyPr>
          <a:lstStyle>
            <a:lvl1pPr algn="l">
              <a:lnSpc>
                <a:spcPct val="109000"/>
              </a:lnSpc>
              <a:buNone/>
              <a:defRPr sz="130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:/Users/xxq20/AppData/Local/Temp/figmazip/slide_2356a4041b96e297\datas\装饰-12001&amp;63009.pn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8" name="任意多边形 7"/>
          <p:cNvSpPr/>
          <p:nvPr userDrawn="1">
            <p:custDataLst>
              <p:tags r:id="rId5"/>
            </p:custDataLst>
          </p:nvPr>
        </p:nvSpPr>
        <p:spPr>
          <a:xfrm>
            <a:off x="0" y="2692396"/>
            <a:ext cx="12191365" cy="4165600"/>
          </a:xfrm>
          <a:custGeom>
            <a:avLst/>
            <a:gdLst>
              <a:gd name="connisteX0" fmla="*/ 0 w 12191996"/>
              <a:gd name="connsiteY0" fmla="*/ 0 h 4165604"/>
              <a:gd name="connisteX1" fmla="*/ 0 w 12191996"/>
              <a:gd name="connsiteY1" fmla="*/ 4165604 h 4165604"/>
              <a:gd name="connisteX2" fmla="*/ 12191996 w 12191996"/>
              <a:gd name="connsiteY2" fmla="*/ 4165604 h 4165604"/>
              <a:gd name="connisteX3" fmla="*/ 12191996 w 12191996"/>
              <a:gd name="connsiteY3" fmla="*/ 0 h 4165604"/>
              <a:gd name="connisteX4" fmla="*/ 0 w 12191996"/>
              <a:gd name="connsiteY4" fmla="*/ 0 h 41656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2191997" h="4165604">
                <a:moveTo>
                  <a:pt x="0" y="0"/>
                </a:moveTo>
                <a:lnTo>
                  <a:pt x="0" y="4165604"/>
                </a:lnTo>
                <a:lnTo>
                  <a:pt x="12191997" y="4165604"/>
                </a:lnTo>
                <a:lnTo>
                  <a:pt x="1219199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6"/>
            </p:custDataLst>
          </p:nvPr>
        </p:nvSpPr>
        <p:spPr>
          <a:xfrm>
            <a:off x="888998" y="5295903"/>
            <a:ext cx="5791200" cy="50800"/>
          </a:xfrm>
          <a:prstGeom prst="rect">
            <a:avLst/>
          </a:pr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>
            <p:custDataLst>
              <p:tags r:id="rId7"/>
            </p:custDataLst>
          </p:nvPr>
        </p:nvSpPr>
        <p:spPr>
          <a:xfrm>
            <a:off x="888998" y="3556001"/>
            <a:ext cx="406400" cy="405765"/>
          </a:xfrm>
          <a:prstGeom prst="rect">
            <a:avLst/>
          </a:pr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3" hasCustomPrompt="1"/>
            <p:custDataLst>
              <p:tags r:id="rId11"/>
            </p:custDataLst>
          </p:nvPr>
        </p:nvSpPr>
        <p:spPr>
          <a:xfrm>
            <a:off x="7061198" y="4356101"/>
            <a:ext cx="4140202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THE END</a:t>
            </a:r>
            <a:endParaRPr lang="zh-CN" altLang="en-US" smtClean="0"/>
          </a:p>
        </p:txBody>
      </p:sp>
      <p:sp>
        <p:nvSpPr>
          <p:cNvPr id="12" name="标题 11"/>
          <p:cNvSpPr>
            <a:spLocks noGrp="1"/>
          </p:cNvSpPr>
          <p:nvPr>
            <p:ph type="ctrTitle" idx="14" hasCustomPrompt="1"/>
            <p:custDataLst>
              <p:tags r:id="rId12"/>
            </p:custDataLst>
          </p:nvPr>
        </p:nvSpPr>
        <p:spPr>
          <a:xfrm>
            <a:off x="6934197" y="4813301"/>
            <a:ext cx="4267203" cy="1015999"/>
          </a:xfrm>
          <a:noFill/>
        </p:spPr>
        <p:txBody>
          <a:bodyPr lIns="0" tIns="0" rIns="0" bIns="0" anchor="t">
            <a:noAutofit/>
          </a:bodyPr>
          <a:lstStyle>
            <a:lvl1pPr algn="r">
              <a:lnSpc>
                <a:spcPct val="104000"/>
              </a:lnSpc>
              <a:buNone/>
              <a:defRPr sz="6400" b="1">
                <a:solidFill>
                  <a:schemeClr val="bg1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</a:lstStyle>
          <a:p>
            <a:r>
              <a:rPr lang="zh-CN" altLang="en-US" smtClean="0"/>
              <a:t>谢谢观看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/Users/xxq20/AppData/Local/Temp/figmazip/slide_605538ea2e373597\datas\装饰图-12001&amp;62751.pn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3034665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3" hasCustomPrompt="1"/>
            <p:custDataLst>
              <p:tags r:id="rId5"/>
            </p:custDataLst>
          </p:nvPr>
        </p:nvSpPr>
        <p:spPr>
          <a:xfrm>
            <a:off x="609603" y="3276597"/>
            <a:ext cx="2260598" cy="761997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4000"/>
              </a:lnSpc>
              <a:buNone/>
              <a:defRPr sz="4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mtClean="0"/>
              <a:t>目录</a:t>
            </a:r>
            <a:endParaRPr lang="zh-CN" altLang="en-US" smtClean="0"/>
          </a:p>
        </p:txBody>
      </p:sp>
      <p:sp>
        <p:nvSpPr>
          <p:cNvPr id="7" name="副标题 6"/>
          <p:cNvSpPr>
            <a:spLocks noGrp="1"/>
          </p:cNvSpPr>
          <p:nvPr>
            <p:ph type="subTitle" idx="14" hasCustomPrompt="1"/>
            <p:custDataLst>
              <p:tags r:id="rId6"/>
            </p:custDataLst>
          </p:nvPr>
        </p:nvSpPr>
        <p:spPr>
          <a:xfrm>
            <a:off x="609603" y="2806696"/>
            <a:ext cx="2197102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CONTENTS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image" Target="NULL" TargetMode="External"/><Relationship Id="rId2" Type="http://schemas.openxmlformats.org/officeDocument/2006/relationships/image" Target="../media/image5.png"/><Relationship Id="rId1" Type="http://schemas.openxmlformats.org/officeDocument/2006/relationships/tags" Target="../tags/tag8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90.xml"/><Relationship Id="rId7" Type="http://schemas.openxmlformats.org/officeDocument/2006/relationships/image" Target="../media/image6.png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image" Target="NULL" TargetMode="External"/><Relationship Id="rId2" Type="http://schemas.openxmlformats.org/officeDocument/2006/relationships/image" Target="../media/image5.png"/><Relationship Id="rId1" Type="http://schemas.openxmlformats.org/officeDocument/2006/relationships/tags" Target="../tags/tag8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image" Target="NULL" TargetMode="External"/><Relationship Id="rId2" Type="http://schemas.openxmlformats.org/officeDocument/2006/relationships/image" Target="../media/image5.png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95.xml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tags" Target="../tags/tag9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100.xml"/><Relationship Id="rId7" Type="http://schemas.openxmlformats.org/officeDocument/2006/relationships/image" Target="../media/image12.png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image" Target="NULL" TargetMode="External"/><Relationship Id="rId2" Type="http://schemas.openxmlformats.org/officeDocument/2006/relationships/image" Target="../media/image5.png"/><Relationship Id="rId1" Type="http://schemas.openxmlformats.org/officeDocument/2006/relationships/tags" Target="../tags/tag9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105.xml"/><Relationship Id="rId7" Type="http://schemas.openxmlformats.org/officeDocument/2006/relationships/image" Target="../media/image13.png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image" Target="NULL" TargetMode="External"/><Relationship Id="rId2" Type="http://schemas.openxmlformats.org/officeDocument/2006/relationships/image" Target="../media/image5.png"/><Relationship Id="rId1" Type="http://schemas.openxmlformats.org/officeDocument/2006/relationships/tags" Target="../tags/tag10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110.xml"/><Relationship Id="rId7" Type="http://schemas.openxmlformats.org/officeDocument/2006/relationships/image" Target="../media/image14.png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image" Target="NULL" TargetMode="External"/><Relationship Id="rId2" Type="http://schemas.openxmlformats.org/officeDocument/2006/relationships/image" Target="../media/image5.png"/><Relationship Id="rId1" Type="http://schemas.openxmlformats.org/officeDocument/2006/relationships/tags" Target="../tags/tag1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C:/Users/xxq20/AppData/Local/Temp/figmazip/slide_4b90be7cb1d1dcaa\datas\装饰-12001&amp;171259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r:link="rId3"/>
          <a:stretch>
            <a:fillRect/>
          </a:stretch>
        </p:blipFill>
        <p:spPr>
          <a:xfrm>
            <a:off x="0" y="0"/>
            <a:ext cx="18288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438403" y="609603"/>
            <a:ext cx="8267703" cy="761997"/>
          </a:xfrm>
          <a:noFill/>
        </p:spPr>
        <p:txBody>
          <a:bodyPr lIns="0" tIns="0" rIns="0" bIns="0" anchor="t">
            <a:noAutofit/>
          </a:bodyPr>
          <a:p>
            <a:pPr algn="l">
              <a:lnSpc>
                <a:spcPct val="114000"/>
              </a:lnSpc>
            </a:pPr>
            <a:r>
              <a:rPr lang="zh-CN" altLang="en-US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主要流程</a:t>
            </a:r>
            <a:endParaRPr lang="zh-CN" altLang="en-US" sz="4400">
              <a:solidFill>
                <a:schemeClr val="tx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11582403" y="203198"/>
            <a:ext cx="405765" cy="4064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11175998" y="609603"/>
            <a:ext cx="406400" cy="405765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2079625" y="3577590"/>
            <a:ext cx="9577705" cy="721995"/>
            <a:chOff x="3275" y="4875"/>
            <a:chExt cx="15083" cy="1137"/>
          </a:xfrm>
        </p:grpSpPr>
        <p:sp>
          <p:nvSpPr>
            <p:cNvPr id="4" name="矩形 3"/>
            <p:cNvSpPr/>
            <p:nvPr/>
          </p:nvSpPr>
          <p:spPr>
            <a:xfrm>
              <a:off x="3275" y="4875"/>
              <a:ext cx="2542" cy="1134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转换为灰度图</a:t>
              </a:r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6654" y="4880"/>
              <a:ext cx="2126" cy="1132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图像滤波</a:t>
              </a:r>
              <a:br>
                <a:rPr lang="zh-CN" altLang="en-US"/>
              </a:br>
              <a:r>
                <a:rPr lang="zh-CN" altLang="en-US"/>
                <a:t>腐蚀</a:t>
              </a:r>
              <a:r>
                <a:rPr lang="en-US" altLang="zh-CN"/>
                <a:t>/</a:t>
              </a:r>
              <a:r>
                <a:rPr lang="zh-CN" altLang="en-US"/>
                <a:t>膨胀</a:t>
              </a: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9617" y="4879"/>
              <a:ext cx="2319" cy="1133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找边缘或者二值化处理</a:t>
              </a:r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2773" y="4878"/>
              <a:ext cx="2032" cy="1133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找轮廓</a:t>
              </a:r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5642" y="4877"/>
              <a:ext cx="2717" cy="1133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多边形逼近</a:t>
              </a:r>
              <a:endParaRPr lang="zh-CN" altLang="en-US"/>
            </a:p>
          </p:txBody>
        </p:sp>
        <p:sp>
          <p:nvSpPr>
            <p:cNvPr id="9" name="右箭头 8"/>
            <p:cNvSpPr/>
            <p:nvPr/>
          </p:nvSpPr>
          <p:spPr>
            <a:xfrm>
              <a:off x="5868" y="5259"/>
              <a:ext cx="735" cy="375"/>
            </a:xfrm>
            <a:prstGeom prst="right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右箭头 9"/>
            <p:cNvSpPr/>
            <p:nvPr/>
          </p:nvSpPr>
          <p:spPr>
            <a:xfrm>
              <a:off x="8831" y="5259"/>
              <a:ext cx="735" cy="375"/>
            </a:xfrm>
            <a:prstGeom prst="right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右箭头 10"/>
            <p:cNvSpPr/>
            <p:nvPr/>
          </p:nvSpPr>
          <p:spPr>
            <a:xfrm>
              <a:off x="11987" y="5259"/>
              <a:ext cx="735" cy="375"/>
            </a:xfrm>
            <a:prstGeom prst="right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右箭头 11"/>
            <p:cNvSpPr/>
            <p:nvPr/>
          </p:nvSpPr>
          <p:spPr>
            <a:xfrm>
              <a:off x="14856" y="5259"/>
              <a:ext cx="735" cy="375"/>
            </a:xfrm>
            <a:prstGeom prst="right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3" name="矩形 12"/>
          <p:cNvSpPr/>
          <p:nvPr/>
        </p:nvSpPr>
        <p:spPr>
          <a:xfrm>
            <a:off x="2079625" y="1936750"/>
            <a:ext cx="5531485" cy="6273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采集图像，把</a:t>
            </a:r>
            <a:r>
              <a:rPr lang="en-US" altLang="zh-CN"/>
              <a:t>maix.image</a:t>
            </a:r>
            <a:r>
              <a:rPr lang="zh-CN" altLang="en-US"/>
              <a:t>格式转换为</a:t>
            </a:r>
            <a:r>
              <a:rPr lang="en-US" altLang="zh-CN"/>
              <a:t>opencv</a:t>
            </a:r>
            <a:r>
              <a:rPr lang="zh-CN" altLang="en-US"/>
              <a:t>格式</a:t>
            </a: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133600" y="5316855"/>
            <a:ext cx="6258560" cy="6273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取得各个角点，转换会</a:t>
            </a:r>
            <a:r>
              <a:rPr lang="en-US" altLang="zh-CN"/>
              <a:t>maix.image</a:t>
            </a:r>
            <a:r>
              <a:rPr lang="zh-CN" altLang="en-US"/>
              <a:t>格式画图或作后续计算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079625" y="15684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STEP 1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2079625" y="31603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STEP 2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2079625" y="49485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STEP 3</a:t>
            </a:r>
            <a:endParaRPr lang="en-US" altLang="zh-CN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C:/Users/xxq20/AppData/Local/Temp/figmazip/slide_4b90be7cb1d1dcaa\datas\装饰-12001&amp;171259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r:link="rId3"/>
          <a:stretch>
            <a:fillRect/>
          </a:stretch>
        </p:blipFill>
        <p:spPr>
          <a:xfrm>
            <a:off x="0" y="0"/>
            <a:ext cx="18288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438403" y="609603"/>
            <a:ext cx="8267703" cy="761997"/>
          </a:xfrm>
          <a:noFill/>
        </p:spPr>
        <p:txBody>
          <a:bodyPr lIns="0" tIns="0" rIns="0" bIns="0" anchor="t">
            <a:noAutofit/>
          </a:bodyPr>
          <a:p>
            <a:pPr algn="l">
              <a:lnSpc>
                <a:spcPct val="114000"/>
              </a:lnSpc>
            </a:pPr>
            <a:r>
              <a:rPr lang="zh-CN" altLang="en-US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图像滤波</a:t>
            </a:r>
            <a:endParaRPr lang="zh-CN" altLang="en-US" sz="4400">
              <a:solidFill>
                <a:schemeClr val="tx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11582403" y="203198"/>
            <a:ext cx="405765" cy="4064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11175998" y="609603"/>
            <a:ext cx="406400" cy="405765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4940" y="3701415"/>
            <a:ext cx="4411980" cy="237744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694940" y="17748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高斯滤波</a:t>
            </a:r>
            <a:r>
              <a:rPr lang="en-US" altLang="zh-CN"/>
              <a:t> cv2.GaussianBlur()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2694940" y="22015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中值滤波</a:t>
            </a:r>
            <a:r>
              <a:rPr lang="en-US" altLang="zh-CN"/>
              <a:t> cv2.medianBlur()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2694940" y="26282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双边滤波</a:t>
            </a:r>
            <a:r>
              <a:rPr lang="en-US" altLang="zh-CN"/>
              <a:t> cv2.bilateralFilter()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2694940" y="30549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...</a:t>
            </a:r>
            <a:endParaRPr lang="en-US" altLang="zh-CN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C:/Users/xxq20/AppData/Local/Temp/figmazip/slide_4b90be7cb1d1dcaa\datas\装饰-12001&amp;171259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r:link="rId3"/>
          <a:stretch>
            <a:fillRect/>
          </a:stretch>
        </p:blipFill>
        <p:spPr>
          <a:xfrm>
            <a:off x="0" y="0"/>
            <a:ext cx="18288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438403" y="609603"/>
            <a:ext cx="8267703" cy="761997"/>
          </a:xfrm>
          <a:noFill/>
        </p:spPr>
        <p:txBody>
          <a:bodyPr lIns="0" tIns="0" rIns="0" bIns="0" anchor="t">
            <a:noAutofit/>
          </a:bodyPr>
          <a:p>
            <a:pPr algn="l">
              <a:lnSpc>
                <a:spcPct val="114000"/>
              </a:lnSpc>
            </a:pPr>
            <a:r>
              <a:rPr lang="zh-CN" altLang="en-US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腐蚀</a:t>
            </a:r>
            <a:r>
              <a:rPr lang="en-US" altLang="zh-CN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/</a:t>
            </a:r>
            <a:r>
              <a:rPr lang="zh-CN" altLang="en-US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膨胀</a:t>
            </a:r>
            <a:r>
              <a:rPr lang="en-US" altLang="zh-CN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/</a:t>
            </a:r>
            <a:r>
              <a:rPr lang="zh-CN" altLang="en-US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开运算</a:t>
            </a:r>
            <a:r>
              <a:rPr lang="en-US" altLang="zh-CN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/</a:t>
            </a:r>
            <a:r>
              <a:rPr lang="zh-CN" altLang="en-US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闭运算</a:t>
            </a:r>
            <a:endParaRPr lang="zh-CN" altLang="en-US" sz="4400">
              <a:solidFill>
                <a:schemeClr val="tx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11582403" y="203198"/>
            <a:ext cx="405765" cy="4064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11175998" y="609603"/>
            <a:ext cx="406400" cy="405765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3168650" y="2032000"/>
            <a:ext cx="1866900" cy="1264920"/>
            <a:chOff x="3840" y="2678"/>
            <a:chExt cx="2940" cy="199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40" y="2678"/>
              <a:ext cx="1464" cy="1992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04" y="2678"/>
              <a:ext cx="1476" cy="1992"/>
            </a:xfrm>
            <a:prstGeom prst="rect">
              <a:avLst/>
            </a:prstGeom>
          </p:spPr>
        </p:pic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5745" y="2039620"/>
            <a:ext cx="1882140" cy="12573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5745" y="4267835"/>
            <a:ext cx="1889760" cy="1264920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3168650" y="4267835"/>
            <a:ext cx="1897380" cy="1264920"/>
            <a:chOff x="3840" y="6721"/>
            <a:chExt cx="2988" cy="199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04" y="6721"/>
              <a:ext cx="1524" cy="199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40" y="6721"/>
              <a:ext cx="1464" cy="1992"/>
            </a:xfrm>
            <a:prstGeom prst="rect">
              <a:avLst/>
            </a:prstGeom>
          </p:spPr>
        </p:pic>
      </p:grpSp>
      <p:sp>
        <p:nvSpPr>
          <p:cNvPr id="22" name="文本框 21"/>
          <p:cNvSpPr txBox="1"/>
          <p:nvPr/>
        </p:nvSpPr>
        <p:spPr>
          <a:xfrm>
            <a:off x="3168650" y="1713865"/>
            <a:ext cx="2085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腐蚀</a:t>
            </a:r>
            <a:r>
              <a:rPr lang="en-US" altLang="zh-CN"/>
              <a:t> cv2.erode(...)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168650" y="3899535"/>
            <a:ext cx="2085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膨胀</a:t>
            </a:r>
            <a:r>
              <a:rPr lang="en-US" altLang="zh-CN"/>
              <a:t> cv2.dilate(...)</a:t>
            </a:r>
            <a:endParaRPr lang="en-US" altLang="zh-CN"/>
          </a:p>
        </p:txBody>
      </p:sp>
      <p:sp>
        <p:nvSpPr>
          <p:cNvPr id="24" name="文本框 23"/>
          <p:cNvSpPr txBox="1"/>
          <p:nvPr/>
        </p:nvSpPr>
        <p:spPr>
          <a:xfrm>
            <a:off x="7865745" y="1663700"/>
            <a:ext cx="2358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开运算</a:t>
            </a:r>
            <a:r>
              <a:rPr lang="en-US" altLang="zh-CN"/>
              <a:t> cv2.open(...)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865745" y="3899535"/>
            <a:ext cx="2774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闭运算</a:t>
            </a:r>
            <a:r>
              <a:rPr lang="en-US" altLang="zh-CN"/>
              <a:t> cv2.close(...)</a:t>
            </a:r>
            <a:endParaRPr lang="en-US" altLang="zh-CN"/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C:/Users/xxq20/AppData/Local/Temp/figmazip/slide_4b90be7cb1d1dcaa\datas\装饰-12001&amp;171259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r:link="rId3"/>
          <a:stretch>
            <a:fillRect/>
          </a:stretch>
        </p:blipFill>
        <p:spPr>
          <a:xfrm>
            <a:off x="0" y="0"/>
            <a:ext cx="18288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438403" y="609603"/>
            <a:ext cx="8267703" cy="761997"/>
          </a:xfrm>
          <a:noFill/>
        </p:spPr>
        <p:txBody>
          <a:bodyPr lIns="0" tIns="0" rIns="0" bIns="0" anchor="t">
            <a:noAutofit/>
          </a:bodyPr>
          <a:p>
            <a:pPr algn="l">
              <a:lnSpc>
                <a:spcPct val="114000"/>
              </a:lnSpc>
            </a:pPr>
            <a:r>
              <a:rPr lang="zh-CN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找边缘</a:t>
            </a:r>
            <a:r>
              <a:rPr lang="en-US" altLang="zh-CN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/</a:t>
            </a:r>
            <a:r>
              <a:rPr lang="zh-CN" altLang="en-US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二值化</a:t>
            </a:r>
            <a:endParaRPr lang="zh-CN" altLang="en-US" sz="4400">
              <a:solidFill>
                <a:schemeClr val="tx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11582403" y="203198"/>
            <a:ext cx="405765" cy="4064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11175998" y="609603"/>
            <a:ext cx="406400" cy="405765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4770" y="3324225"/>
            <a:ext cx="5623560" cy="276606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604770" y="19069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二值化</a:t>
            </a:r>
            <a:r>
              <a:rPr lang="en-US" altLang="zh-CN"/>
              <a:t>    cv2.threshhold(...)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2604770" y="22752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边缘检测</a:t>
            </a:r>
            <a:r>
              <a:rPr lang="en-US" altLang="zh-CN"/>
              <a:t> cv2.Canny(...)</a:t>
            </a:r>
            <a:endParaRPr lang="en-US" altLang="zh-CN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C:/Users/xxq20/AppData/Local/Temp/figmazip/slide_4b90be7cb1d1dcaa\datas\装饰-12001&amp;171259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r:link="rId3"/>
          <a:stretch>
            <a:fillRect/>
          </a:stretch>
        </p:blipFill>
        <p:spPr>
          <a:xfrm>
            <a:off x="0" y="0"/>
            <a:ext cx="18288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438403" y="609603"/>
            <a:ext cx="8267703" cy="761997"/>
          </a:xfrm>
          <a:noFill/>
        </p:spPr>
        <p:txBody>
          <a:bodyPr lIns="0" tIns="0" rIns="0" bIns="0" anchor="t">
            <a:noAutofit/>
          </a:bodyPr>
          <a:p>
            <a:pPr algn="l">
              <a:lnSpc>
                <a:spcPct val="114000"/>
              </a:lnSpc>
            </a:pPr>
            <a:r>
              <a:rPr lang="zh-CN" altLang="en-US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查找轮廓</a:t>
            </a:r>
            <a:endParaRPr lang="zh-CN" altLang="en-US" sz="4400">
              <a:solidFill>
                <a:schemeClr val="tx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11582403" y="203198"/>
            <a:ext cx="405765" cy="4064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11175998" y="609603"/>
            <a:ext cx="406400" cy="405765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512695" y="1454785"/>
            <a:ext cx="5781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查找轮廓</a:t>
            </a:r>
            <a:r>
              <a:rPr lang="en-US" altLang="zh-CN"/>
              <a:t> cv2.findContours(image, mode, method)   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3665" y="4384675"/>
            <a:ext cx="3267075" cy="1994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512695" y="1823085"/>
            <a:ext cx="90703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查找轮廓就像在黑色背景中找白色物体。你应该记住，要找的物体应该是白色而背景应该是黑色。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12695" y="2468245"/>
            <a:ext cx="7310755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image - </a:t>
            </a:r>
            <a:r>
              <a:rPr lang="zh-CN" altLang="en-US"/>
              <a:t>要查找的图像</a:t>
            </a:r>
            <a:r>
              <a:rPr lang="en-US" altLang="zh-CN"/>
              <a:t>(</a:t>
            </a:r>
            <a:r>
              <a:rPr lang="zh-CN" altLang="en-US"/>
              <a:t>已经过二值化或</a:t>
            </a:r>
            <a:r>
              <a:rPr lang="en-US" altLang="zh-CN"/>
              <a:t>C</a:t>
            </a:r>
            <a:r>
              <a:rPr lang="en-US" altLang="zh-CN"/>
              <a:t>anny</a:t>
            </a:r>
            <a:r>
              <a:rPr lang="zh-CN" altLang="en-US"/>
              <a:t>边缘检测</a:t>
            </a:r>
            <a:r>
              <a:rPr lang="en-US" altLang="zh-CN"/>
              <a:t>)</a:t>
            </a:r>
            <a:endParaRPr lang="en-US" altLang="zh-CN"/>
          </a:p>
          <a:p>
            <a:r>
              <a:rPr lang="en-US" altLang="zh-CN"/>
              <a:t>mode  - </a:t>
            </a:r>
            <a:r>
              <a:rPr lang="zh-CN" altLang="en-US"/>
              <a:t>查找轮廓模式</a:t>
            </a:r>
            <a:r>
              <a:rPr lang="en-US" altLang="zh-CN"/>
              <a:t> : </a:t>
            </a:r>
            <a:endParaRPr lang="en-US" altLang="zh-CN"/>
          </a:p>
          <a:p>
            <a:r>
              <a:rPr lang="en-US" altLang="zh-CN" sz="1400"/>
              <a:t>RETR_EXTERNAL </a:t>
            </a:r>
            <a:r>
              <a:rPr lang="zh-CN" altLang="en-US" sz="1400"/>
              <a:t>只检测外围轮廓</a:t>
            </a:r>
            <a:br>
              <a:rPr lang="zh-CN" altLang="en-US" sz="1400"/>
            </a:br>
            <a:r>
              <a:rPr lang="en-US" altLang="zh-CN" sz="1400"/>
              <a:t>RETR_TREE          </a:t>
            </a:r>
            <a:r>
              <a:rPr lang="zh-CN" altLang="en-US" sz="1400"/>
              <a:t>按照树形存储轮廓，从大到小，从右到左</a:t>
            </a:r>
            <a:endParaRPr lang="zh-CN" altLang="en-US" sz="1400"/>
          </a:p>
          <a:p>
            <a:r>
              <a:rPr lang="en-US" altLang="zh-CN"/>
              <a:t>method - </a:t>
            </a:r>
            <a:r>
              <a:rPr lang="zh-CN" altLang="en-US"/>
              <a:t>轮廓近似方法</a:t>
            </a:r>
            <a:endParaRPr lang="zh-CN" altLang="en-US"/>
          </a:p>
          <a:p>
            <a:r>
              <a:rPr lang="en-US" altLang="zh-CN" sz="1400"/>
              <a:t>CHAIN_APPROX_NONE   </a:t>
            </a:r>
            <a:r>
              <a:rPr lang="zh-CN" altLang="en-US" sz="1400"/>
              <a:t>保存轮廓上所有点</a:t>
            </a:r>
            <a:endParaRPr lang="zh-CN" altLang="en-US" sz="1400"/>
          </a:p>
          <a:p>
            <a:r>
              <a:rPr lang="en-US" altLang="zh-CN" sz="1400"/>
              <a:t>CHAIN_APPROX_SIMPLE </a:t>
            </a:r>
            <a:r>
              <a:rPr lang="zh-CN" altLang="en-US" sz="1400"/>
              <a:t>只保存角点，比如四边形，只保留四个角</a:t>
            </a:r>
            <a:endParaRPr lang="zh-CN" altLang="en-US" sz="1400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C:/Users/xxq20/AppData/Local/Temp/figmazip/slide_4b90be7cb1d1dcaa\datas\装饰-12001&amp;171259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r:link="rId3"/>
          <a:stretch>
            <a:fillRect/>
          </a:stretch>
        </p:blipFill>
        <p:spPr>
          <a:xfrm>
            <a:off x="0" y="0"/>
            <a:ext cx="18288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438403" y="609603"/>
            <a:ext cx="8267703" cy="761997"/>
          </a:xfrm>
          <a:noFill/>
        </p:spPr>
        <p:txBody>
          <a:bodyPr lIns="0" tIns="0" rIns="0" bIns="0" anchor="t">
            <a:noAutofit/>
          </a:bodyPr>
          <a:p>
            <a:pPr algn="l">
              <a:lnSpc>
                <a:spcPct val="114000"/>
              </a:lnSpc>
            </a:pPr>
            <a:r>
              <a:rPr lang="zh-CN" altLang="en-US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多边形逼近</a:t>
            </a:r>
            <a:endParaRPr lang="zh-CN" altLang="en-US" sz="4400">
              <a:solidFill>
                <a:schemeClr val="tx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11582403" y="203198"/>
            <a:ext cx="405765" cy="4064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11175998" y="609603"/>
            <a:ext cx="406400" cy="405765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438400" y="1742440"/>
            <a:ext cx="6727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多边形逼近</a:t>
            </a:r>
            <a:r>
              <a:rPr lang="en-US" altLang="zh-CN"/>
              <a:t> cv2.approxPolyDP(contour, epslion, closed)   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4895" y="3994150"/>
            <a:ext cx="8474710" cy="20808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540635" y="2278380"/>
            <a:ext cx="51136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contour - </a:t>
            </a:r>
            <a:r>
              <a:rPr lang="zh-CN" altLang="en-US"/>
              <a:t>要近似逼近的轮廓</a:t>
            </a:r>
            <a:br>
              <a:rPr lang="zh-CN" altLang="en-US"/>
            </a:br>
            <a:r>
              <a:rPr lang="en-US" altLang="zh-CN"/>
              <a:t>epslion  - </a:t>
            </a:r>
            <a:r>
              <a:rPr lang="zh-CN" altLang="en-US"/>
              <a:t>从原始轮廓到近似轮廓的最大距离</a:t>
            </a:r>
            <a:br>
              <a:rPr lang="zh-CN" altLang="en-US"/>
            </a:br>
            <a:r>
              <a:rPr lang="en-US" altLang="zh-CN"/>
              <a:t>closed   - </a:t>
            </a:r>
            <a:r>
              <a:rPr lang="zh-CN" altLang="en-US"/>
              <a:t>设定弧线是否闭合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40635" y="3413125"/>
            <a:ext cx="6049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例如，</a:t>
            </a:r>
            <a:r>
              <a:rPr lang="en-US" altLang="zh-CN"/>
              <a:t>epsilon = 0.01 * cv2.arcLength(contour, True)</a:t>
            </a:r>
            <a:endParaRPr lang="en-US" altLang="zh-CN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2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3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4.xml><?xml version="1.0" encoding="utf-8"?>
<p:tagLst xmlns:p="http://schemas.openxmlformats.org/presentationml/2006/main">
  <p:tag name="KSO_WM_BEAUTIFY_FLAG" val="#wm#"/>
  <p:tag name="KSO_WM_UNIT_INDEX" val="4"/>
  <p:tag name="KSO_WM_UNIT_TYPE" val="i"/>
</p:tagLst>
</file>

<file path=ppt/tags/tag5.xml><?xml version="1.0" encoding="utf-8"?>
<p:tagLst xmlns:p="http://schemas.openxmlformats.org/presentationml/2006/main">
  <p:tag name="KSO_WM_BEAUTIFY_FLAG" val="#wm#"/>
  <p:tag name="KSO_WM_UNIT_INDEX" val="5"/>
  <p:tag name="KSO_WM_UNIT_TYPE" val="i"/>
</p:tagLst>
</file>

<file path=ppt/tags/tag6.xml><?xml version="1.0" encoding="utf-8"?>
<p:tagLst xmlns:p="http://schemas.openxmlformats.org/presentationml/2006/main">
  <p:tag name="KSO_WM_BEAUTIFY_FLAG" val="#wm#"/>
  <p:tag name="KSO_WM_UNIT_INDEX" val="6"/>
  <p:tag name="KSO_WM_UNIT_TYPE" val="i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11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YPE" val="f"/>
</p:tagLst>
</file>

<file path=ppt/tags/tag12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19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23.xml><?xml version="1.0" encoding="utf-8"?>
<p:tagLst xmlns:p="http://schemas.openxmlformats.org/presentationml/2006/main">
  <p:tag name="KSO_WM_BEAUTIFY_FLAG" val="#wm#"/>
  <p:tag name="KSO_WM_UNIT_INDEX" val="4"/>
  <p:tag name="KSO_WM_UNIT_TYPE" val="i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26.xml><?xml version="1.0" encoding="utf-8"?>
<p:tagLst xmlns:p="http://schemas.openxmlformats.org/presentationml/2006/main">
  <p:tag name="KSO_WM_BEAUTIFY_FLAG" val="#wm#"/>
  <p:tag name="KSO_WM_UNIT_INDEX" val="1"/>
  <p:tag name="KSO_WM_UNIT_TYPE" val="e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64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65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66.xml><?xml version="1.0" encoding="utf-8"?>
<p:tagLst xmlns:p="http://schemas.openxmlformats.org/presentationml/2006/main">
  <p:tag name="KSO_WM_BEAUTIFY_FLAG" val="#wm#"/>
  <p:tag name="KSO_WM_UNIT_INDEX" val="4"/>
  <p:tag name="KSO_WM_UNIT_TYPE" val="i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UNIT_INDEX" val="1"/>
  <p:tag name="KSO_WM_UNIT_TYPE" val="b"/>
</p:tagLst>
</file>

<file path=ppt/tags/tag71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72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73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74.xml><?xml version="1.0" encoding="utf-8"?>
<p:tagLst xmlns:p="http://schemas.openxmlformats.org/presentationml/2006/main">
  <p:tag name="KSO_WM_BEAUTIFY_FLAG" val="#wm#"/>
  <p:tag name="KSO_WM_UNIT_INDEX" val="1"/>
  <p:tag name="KSO_WM_UNIT_TYPE" val="b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e41c35d6f072c421"/>
</p:tagLst>
</file>

<file path=ppt/tags/tag81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8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</p:tagLst>
</file>

<file path=ppt/tags/tag83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84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FIGMA_LIMIT" val=""/>
  <p:tag name="KSO_WM_FIGMA_SLIDE_GROUP" val="39"/>
  <p:tag name="KSO_WM_SLIDE_TYPE" val="text"/>
  <p:tag name="KSO_WM_TEMPLATE_SUBCATEGORY" val="29"/>
  <p:tag name="KSO_WM_SLIDE_SOURCE" val="WPPAIGenerateSlide"/>
</p:tagLst>
</file>

<file path=ppt/tags/tag86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87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</p:tagLst>
</file>

<file path=ppt/tags/tag88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89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FIGMA_LIMIT" val=""/>
  <p:tag name="KSO_WM_FIGMA_SLIDE_GROUP" val="39"/>
  <p:tag name="KSO_WM_SLIDE_TYPE" val="text"/>
  <p:tag name="KSO_WM_TEMPLATE_SUBCATEGORY" val="29"/>
  <p:tag name="KSO_WM_SLIDE_SOURCE" val="WPPAIGenerateSlide"/>
</p:tagLst>
</file>

<file path=ppt/tags/tag91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9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</p:tagLst>
</file>

<file path=ppt/tags/tag93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94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FIGMA_LIMIT" val=""/>
  <p:tag name="KSO_WM_FIGMA_SLIDE_GROUP" val="39"/>
  <p:tag name="KSO_WM_SLIDE_TYPE" val="text"/>
  <p:tag name="KSO_WM_TEMPLATE_SUBCATEGORY" val="29"/>
  <p:tag name="KSO_WM_SLIDE_SOURCE" val="WPPAIGenerateSlide"/>
</p:tagLst>
</file>

<file path=ppt/tags/tag96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97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</p:tagLst>
</file>

<file path=ppt/tags/tag98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99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FIGMA_LIMIT" val=""/>
  <p:tag name="KSO_WM_FIGMA_SLIDE_GROUP" val="39"/>
  <p:tag name="KSO_WM_SLIDE_TYPE" val="text"/>
  <p:tag name="KSO_WM_TEMPLATE_SUBCATEGORY" val="29"/>
  <p:tag name="KSO_WM_SLIDE_SOURCE" val="WPPAIGenerateSlide"/>
</p:tagLst>
</file>

<file path=ppt/tags/tag101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10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</p:tagLst>
</file>

<file path=ppt/tags/tag103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104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FIGMA_LIMIT" val=""/>
  <p:tag name="KSO_WM_FIGMA_SLIDE_GROUP" val="39"/>
  <p:tag name="KSO_WM_SLIDE_TYPE" val="text"/>
  <p:tag name="KSO_WM_TEMPLATE_SUBCATEGORY" val="29"/>
  <p:tag name="KSO_WM_SLIDE_SOURCE" val="WPPAIGenerateSlide"/>
</p:tagLst>
</file>

<file path=ppt/tags/tag106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107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</p:tagLst>
</file>

<file path=ppt/tags/tag108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109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FIGMA_LIMIT" val=""/>
  <p:tag name="KSO_WM_FIGMA_SLIDE_GROUP" val="39"/>
  <p:tag name="KSO_WM_SLIDE_TYPE" val="text"/>
  <p:tag name="KSO_WM_TEMPLATE_SUBCATEGORY" val="29"/>
  <p:tag name="KSO_WM_SLIDE_SOURCE" val="WPPAIGenerateSlide"/>
</p:tagLst>
</file>

<file path=ppt/tags/tag111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蓝色工作汇报商务风主题">
  <a:themeElements>
    <a:clrScheme name="">
      <a:dk1>
        <a:srgbClr val="000000"/>
      </a:dk1>
      <a:lt1>
        <a:srgbClr val="FFFFFF"/>
      </a:lt1>
      <a:dk2>
        <a:srgbClr val="333638"/>
      </a:dk2>
      <a:lt2>
        <a:srgbClr val="EFEFEF"/>
      </a:lt2>
      <a:accent1>
        <a:srgbClr val="0E2E4A"/>
      </a:accent1>
      <a:accent2>
        <a:srgbClr val="B59158"/>
      </a:accent2>
      <a:accent3>
        <a:srgbClr val="D5BF93"/>
      </a:accent3>
      <a:accent4>
        <a:srgbClr val="8498AA"/>
      </a:accent4>
      <a:accent5>
        <a:srgbClr val="A0BBF0"/>
      </a:accent5>
      <a:accent6>
        <a:srgbClr val="E4420E"/>
      </a:accent6>
      <a:hlink>
        <a:srgbClr val="00B5EE"/>
      </a:hlink>
      <a:folHlink>
        <a:srgbClr val="0C327A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777</Words>
  <Application>WPS 演示</Application>
  <PresentationFormat>宽屏</PresentationFormat>
  <Paragraphs>69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Microsoft YaHei UI</vt:lpstr>
      <vt:lpstr>Arial Unicode MS</vt:lpstr>
      <vt:lpstr>Calibri</vt:lpstr>
      <vt:lpstr>蓝色工作汇报商务风主题</vt:lpstr>
      <vt:lpstr>主要流程</vt:lpstr>
      <vt:lpstr>主要流程</vt:lpstr>
      <vt:lpstr>图像滤波</vt:lpstr>
      <vt:lpstr>腐蚀/膨胀/开运算/闭运算</vt:lpstr>
      <vt:lpstr>找边缘/二值化</vt:lpstr>
      <vt:lpstr>查找轮廓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xxq20</dc:creator>
  <cp:lastModifiedBy>Jarvis</cp:lastModifiedBy>
  <cp:revision>173</cp:revision>
  <dcterms:created xsi:type="dcterms:W3CDTF">2019-06-19T02:08:00Z</dcterms:created>
  <dcterms:modified xsi:type="dcterms:W3CDTF">2025-04-20T08:59:14Z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FCB0FF2742FE43F5A3BCC9FB03E9D249_11</vt:lpwstr>
  </property>
</Properties>
</file>